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6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18" r:id="rId2"/>
    <p:sldId id="258" r:id="rId3"/>
    <p:sldId id="259" r:id="rId4"/>
    <p:sldId id="324" r:id="rId5"/>
    <p:sldId id="260" r:id="rId6"/>
    <p:sldId id="325" r:id="rId7"/>
    <p:sldId id="263" r:id="rId8"/>
    <p:sldId id="328" r:id="rId9"/>
    <p:sldId id="329" r:id="rId10"/>
    <p:sldId id="335" r:id="rId11"/>
    <p:sldId id="336" r:id="rId12"/>
    <p:sldId id="317" r:id="rId13"/>
    <p:sldId id="338" r:id="rId14"/>
    <p:sldId id="319" r:id="rId15"/>
    <p:sldId id="337" r:id="rId16"/>
    <p:sldId id="322" r:id="rId17"/>
    <p:sldId id="321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9497F-A29A-4F81-80DE-2F9E997ED4B2}" type="datetimeFigureOut">
              <a:rPr lang="ru-RU" smtClean="0"/>
              <a:t>08.06.2025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E6356A-B3BE-4B67-A67E-872F4F899B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391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46271-592F-4456-8375-6062EFE9C3E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670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6356A-B3BE-4B67-A67E-872F4F899B1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120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67EBF8-DE79-7AE9-47B9-40AE38872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9C0308-BCC0-34C9-7693-AD9230A1C5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714C2E7B-C5EB-7703-FCA2-6DA99CE4C449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265877" y="35173"/>
            <a:ext cx="896814" cy="93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809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569396-9D13-AEF9-1C79-ED2F9668D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289" y="360689"/>
            <a:ext cx="8013421" cy="508244"/>
          </a:xfrm>
        </p:spPr>
        <p:txBody>
          <a:bodyPr>
            <a:normAutofit/>
          </a:bodyPr>
          <a:lstStyle>
            <a:lvl1pPr algn="ctr"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C034A-EE54-35C4-2F55-149F8DDEC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288" y="1825625"/>
            <a:ext cx="7969111" cy="43513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925D8606-16A3-FB4E-7892-498B9D45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368073"/>
            <a:ext cx="2743200" cy="365125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3D48E25-7533-41BE-A0AC-CAC84103B814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04BA185B-6846-DE47-9F25-A7C790400AF0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265877" y="35173"/>
            <a:ext cx="896814" cy="93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44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569396-9D13-AEF9-1C79-ED2F9668D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289" y="360689"/>
            <a:ext cx="8013421" cy="508244"/>
          </a:xfrm>
        </p:spPr>
        <p:txBody>
          <a:bodyPr>
            <a:normAutofit/>
          </a:bodyPr>
          <a:lstStyle>
            <a:lvl1pPr algn="ctr"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C034A-EE54-35C4-2F55-149F8DDEC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925D8606-16A3-FB4E-7892-498B9D45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368073"/>
            <a:ext cx="2743200" cy="365125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3D48E25-7533-41BE-A0AC-CAC84103B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926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569396-9D13-AEF9-1C79-ED2F9668D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289" y="360689"/>
            <a:ext cx="8013421" cy="508244"/>
          </a:xfrm>
        </p:spPr>
        <p:txBody>
          <a:bodyPr>
            <a:normAutofit/>
          </a:bodyPr>
          <a:lstStyle>
            <a:lvl1pPr algn="ctr"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925D8606-16A3-FB4E-7892-498B9D45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368073"/>
            <a:ext cx="2743200" cy="365125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3D48E25-7533-41BE-A0AC-CAC84103B81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C984E77-5CA3-2BCF-1E21-2E3F78AD14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53456" y="6053897"/>
            <a:ext cx="7685088" cy="30001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Рисунок 1 – </a:t>
            </a:r>
            <a:r>
              <a:rPr lang="en-US" dirty="0"/>
              <a:t>… [</a:t>
            </a:r>
            <a:r>
              <a:rPr lang="ru-RU" dirty="0"/>
              <a:t>Разработано автором</a:t>
            </a:r>
            <a:r>
              <a:rPr lang="en-US" dirty="0"/>
              <a:t>]</a:t>
            </a:r>
            <a:endParaRPr lang="ru-RU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DFA593D9-4DFB-DD2E-012C-0F1CD9C3F1A3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265877" y="35173"/>
            <a:ext cx="896814" cy="93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316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19935A-F9CC-2ECE-72E4-87F89562E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92BDA3-8649-1E96-58D6-EA63DC686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51EE91-E6EB-484C-0B05-D2858CCFB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D3DEF5-844E-BECF-CD3B-24CFA272D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6205C3-B9B1-E24B-2119-265400D10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331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DAFAF-C263-BC56-E27F-848666BB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2EDD77-9504-EE50-2989-CB754DD7F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0A2532-F316-68A6-AC92-A85C8E4B7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53BFB3-FB87-4392-55F4-8F1A337C8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DA15898-CF9D-24C4-C49A-D461AFAAB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5BC85F-1294-3049-4C00-43F19ED2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735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E2762-10BE-E6FD-6CDA-19AE76E38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A8A091-A889-67E2-6C3C-2E515478B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602E14-1C94-8131-C59C-E9F94F371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A6D3E0C-A194-0B3C-7791-1CE95317B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FA6E82A-FEC9-33E6-7D83-5C513115E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E9D6BB2-94A6-3264-8262-C974C655F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066A7D8-8DC8-D272-6A2C-FDFABE62A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2842B30-1936-198F-E1BB-C94A4DA47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0992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175106-0A61-B740-91F7-7E22B4AF3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A645B23-DFA9-9810-C3EE-64E7C563D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2897E95-0947-1532-9381-1E5DD05B0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42E81D9-CE86-81EB-E08A-3ADF00692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792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609E83B-F61F-527D-8D4C-AA4C057C0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648184E-FBE5-9594-C613-D30002A9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824764-3D99-2F42-BFA9-799B3A74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71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CEE03B-67A0-8B55-1B9E-08E62818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41DAA4-7C36-C27B-985E-792619228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93C05B-E093-F290-4903-B296D5650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94C941-4F05-07E0-01AD-A62CB8472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7B9B050-CC8D-0E44-47BE-4ED99C03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43DAC7-460C-AA62-7AC9-86841D5A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172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C33F6-3EE5-C603-0841-46890AB27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02361C4-9310-C7D8-164F-1F323DB7C0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4BB9191-DC5D-5D33-8197-E9FF4EB58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8C569C-E3E7-CD9C-F634-CC2C5635C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E93AB9A-4F48-39FA-1537-69F3063A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8F2021-26AB-472E-CF74-AD6620B4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9736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0B0730-B050-2E0B-09D4-DDDAC348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F471120-7DA1-D3F8-D0BF-D91807AC8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27EE2F-44C3-CBBD-C442-705E59C7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F0B1C0-FEDA-0F42-6C56-F05FD1E3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149B7D-3C69-69F0-8C76-D18C8B258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697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2391BB0-323B-5DFE-1562-A32D5D674C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33513F-F5A8-6FF3-FBE5-F200C8714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1A1A9C-5382-2785-DE34-61AB61A20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16EB11-5288-2692-CF49-0692A5B72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8FBE1A-5727-0FD5-F864-88E908EB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981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2354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59E9A-3C77-A8D0-4519-3AF97822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E03E68-8AC2-F35E-6194-6BFDA5336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EF4BFA-2560-6842-4921-394B87FA1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A00DAD-89B3-AE1F-737D-1CC1E431C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2543E1-58D3-EBE3-0B7E-6624147C3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48E25-7533-41BE-A0AC-CAC84103B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944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1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95545" y="133125"/>
            <a:ext cx="815745" cy="85293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363047" y="2311401"/>
            <a:ext cx="7465907" cy="51647"/>
          </a:xfrm>
          <a:custGeom>
            <a:avLst/>
            <a:gdLst/>
            <a:ahLst/>
            <a:cxnLst/>
            <a:rect l="l" t="t" r="r" b="b"/>
            <a:pathLst>
              <a:path w="5599430" h="38735">
                <a:moveTo>
                  <a:pt x="5599328" y="38138"/>
                </a:moveTo>
                <a:lnTo>
                  <a:pt x="5599201" y="27355"/>
                </a:lnTo>
                <a:lnTo>
                  <a:pt x="0" y="28435"/>
                </a:lnTo>
                <a:lnTo>
                  <a:pt x="0" y="38138"/>
                </a:lnTo>
                <a:lnTo>
                  <a:pt x="5599328" y="38138"/>
                </a:lnTo>
                <a:close/>
              </a:path>
              <a:path w="5599430" h="38735">
                <a:moveTo>
                  <a:pt x="5599328" y="0"/>
                </a:moveTo>
                <a:lnTo>
                  <a:pt x="0" y="1117"/>
                </a:lnTo>
                <a:lnTo>
                  <a:pt x="0" y="12242"/>
                </a:lnTo>
                <a:lnTo>
                  <a:pt x="5599328" y="11137"/>
                </a:lnTo>
                <a:lnTo>
                  <a:pt x="55993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0312" y="1092200"/>
            <a:ext cx="11771376" cy="53199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382684" algn="ctr">
              <a:lnSpc>
                <a:spcPts val="1893"/>
              </a:lnSpc>
              <a:spcBef>
                <a:spcPts val="133"/>
              </a:spcBef>
            </a:pPr>
            <a:r>
              <a:rPr sz="16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</a:t>
            </a:r>
            <a:r>
              <a:rPr sz="1600" spc="-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РОССИИ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329" marR="822093" algn="ctr">
              <a:lnSpc>
                <a:spcPts val="1840"/>
              </a:lnSpc>
              <a:spcBef>
                <a:spcPts val="100"/>
              </a:spcBef>
            </a:pPr>
            <a:r>
              <a:rPr sz="1600" i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</a:t>
            </a:r>
            <a:r>
              <a:rPr sz="1600" i="1" spc="9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</a:t>
            </a:r>
            <a:r>
              <a:rPr sz="1600" i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бюджетное</a:t>
            </a:r>
            <a:r>
              <a:rPr sz="1600" i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образовательное</a:t>
            </a:r>
            <a:r>
              <a:rPr sz="1600" i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учреждение</a:t>
            </a:r>
            <a:r>
              <a:rPr sz="1600" i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</a:t>
            </a:r>
            <a:r>
              <a:rPr sz="1600" i="1" spc="-3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образования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387764" algn="ctr">
              <a:lnSpc>
                <a:spcPts val="1853"/>
              </a:lnSpc>
            </a:pPr>
            <a:r>
              <a:rPr sz="1600" b="1" i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«МИРЭА</a:t>
            </a:r>
            <a:r>
              <a:rPr sz="1600" b="1" i="1" spc="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1600" b="1" i="1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i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Российский</a:t>
            </a:r>
            <a:r>
              <a:rPr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i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</a:t>
            </a:r>
            <a:r>
              <a:rPr sz="1600" b="1" i="1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i="1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университет»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385224" algn="ctr">
              <a:lnSpc>
                <a:spcPts val="2540"/>
              </a:lnSpc>
            </a:pPr>
            <a:r>
              <a:rPr sz="2133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РТУ</a:t>
            </a:r>
            <a:r>
              <a:rPr sz="2133" b="1" spc="-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33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МИРЭА</a:t>
            </a:r>
            <a:endParaRPr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7"/>
              </a:spcBef>
            </a:pPr>
            <a:endParaRPr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sz="1867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</a:t>
            </a:r>
            <a:r>
              <a:rPr sz="1867" b="1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67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информационных</a:t>
            </a:r>
            <a:r>
              <a:rPr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67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</a:t>
            </a:r>
            <a:r>
              <a:rPr sz="1867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(ИИТ)</a:t>
            </a:r>
            <a:endParaRPr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sz="1867" b="1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</a:t>
            </a:r>
            <a:r>
              <a:rPr sz="1867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67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индустриального</a:t>
            </a:r>
            <a:r>
              <a:rPr sz="1867" b="1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sz="1867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прикладного</a:t>
            </a:r>
            <a:r>
              <a:rPr sz="1867" b="1" spc="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67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программного обеспечения </a:t>
            </a:r>
            <a:r>
              <a:rPr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(ИППО)</a:t>
            </a:r>
            <a:endParaRPr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7"/>
              </a:spcBef>
            </a:pPr>
            <a:endParaRPr sz="1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ru-RU" sz="2133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</a:t>
            </a:r>
            <a:endParaRPr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47" algn="ctr">
              <a:spcBef>
                <a:spcPts val="13"/>
              </a:spcBef>
            </a:pPr>
            <a:r>
              <a:rPr lang="ru-RU" sz="1867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</a:t>
            </a:r>
            <a:endParaRPr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867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87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Мобильное приложение для совместного изучения языков программирования</a:t>
            </a:r>
          </a:p>
          <a:p>
            <a:pPr algn="ctr"/>
            <a:r>
              <a:rPr lang="ru-RU" sz="187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технологий</a:t>
            </a:r>
            <a:r>
              <a:rPr sz="1867" b="1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73898" marR="1115031" indent="-1346166">
              <a:lnSpc>
                <a:spcPct val="187400"/>
              </a:lnSpc>
              <a:spcBef>
                <a:spcPts val="280"/>
              </a:spcBef>
              <a:tabLst>
                <a:tab pos="4879217" algn="l"/>
                <a:tab pos="6699506" algn="l"/>
              </a:tabLst>
            </a:pPr>
            <a:r>
              <a:rPr lang="ru-RU" sz="1867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ru-RU" sz="1867" spc="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ИКБО-16-21, Логинов Михаил Владимирович</a:t>
            </a:r>
          </a:p>
          <a:p>
            <a:pPr marL="2473898" marR="1115031" indent="-1346166">
              <a:lnSpc>
                <a:spcPct val="187400"/>
              </a:lnSpc>
              <a:spcBef>
                <a:spcPts val="280"/>
              </a:spcBef>
              <a:tabLst>
                <a:tab pos="4879217" algn="l"/>
                <a:tab pos="6699506" algn="l"/>
              </a:tabLst>
            </a:pPr>
            <a:r>
              <a:rPr lang="ru-RU" sz="1867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ru-RU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к.х.н., </a:t>
            </a:r>
            <a:r>
              <a:rPr lang="ru-RU" sz="2000" dirty="0">
                <a:solidFill>
                  <a:srgbClr val="000000"/>
                </a:solidFill>
                <a:latin typeface="Times New Roman"/>
                <a:cs typeface="Times New Roman"/>
              </a:rPr>
              <a:t>доцент, </a:t>
            </a:r>
            <a:r>
              <a:rPr lang="ru-RU" sz="2000" dirty="0" err="1">
                <a:solidFill>
                  <a:srgbClr val="000000"/>
                </a:solidFill>
                <a:latin typeface="Times New Roman"/>
                <a:cs typeface="Times New Roman"/>
              </a:rPr>
              <a:t>Горобинский</a:t>
            </a:r>
            <a:r>
              <a:rPr lang="ru-RU" sz="2000" dirty="0">
                <a:solidFill>
                  <a:srgbClr val="000000"/>
                </a:solidFill>
                <a:latin typeface="Times New Roman"/>
                <a:cs typeface="Times New Roman"/>
              </a:rPr>
              <a:t> Леонид Викторович</a:t>
            </a:r>
            <a:endParaRPr lang="ru-RU" sz="1867" u="sng" spc="-7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73898" marR="1115031" indent="-1346166">
              <a:lnSpc>
                <a:spcPct val="187400"/>
              </a:lnSpc>
              <a:spcBef>
                <a:spcPts val="280"/>
              </a:spcBef>
              <a:tabLst>
                <a:tab pos="4879217" algn="l"/>
                <a:tab pos="6699506" algn="l"/>
              </a:tabLst>
            </a:pPr>
            <a:r>
              <a:rPr lang="ru-RU" sz="1867" spc="-7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Консультант по экономической части ВКР</a:t>
            </a:r>
            <a:r>
              <a:rPr lang="ru-RU" sz="1867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к.э.н., доцент, </a:t>
            </a:r>
            <a:r>
              <a:rPr lang="ru-RU" sz="1867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Чижанькова</a:t>
            </a:r>
            <a:r>
              <a:rPr lang="ru-RU" sz="1867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Инна Владимировна</a:t>
            </a:r>
          </a:p>
          <a:p>
            <a:pPr marL="5273755">
              <a:spcBef>
                <a:spcPts val="67"/>
              </a:spcBef>
            </a:pPr>
            <a:r>
              <a:rPr lang="ru-RU" sz="933" spc="-7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933" spc="-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6E9C3A-E3AB-4F67-6E54-9CABAE2C0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289" y="342401"/>
            <a:ext cx="8013421" cy="508244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Цель, актуальность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, гипотеза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54F734-FDD3-07F0-5DBF-D69EB61EA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786637"/>
            <a:ext cx="11027664" cy="572896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 разработать мобильное приложение для совместного изучения языков программирования и технологий</a:t>
            </a:r>
          </a:p>
          <a:p>
            <a:pPr>
              <a:lnSpc>
                <a:spcPct val="100000"/>
              </a:lnSpc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 </a:t>
            </a:r>
            <a:r>
              <a:rPr kumimoji="0" lang="ru-RU" sz="1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нет сервисов, которые позволяют проходить курсы совместно</a:t>
            </a:r>
          </a:p>
          <a:p>
            <a:pPr>
              <a:lnSpc>
                <a:spcPct val="100000"/>
              </a:lnSpc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Гипотеза: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мобильного приложения повысит вовлеченность обучающихся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r>
              <a:rPr kumimoji="0" lang="ru-RU" sz="1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области, в том числе конкурентных решений,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  определить информационные процессы предметной области и формализовать их,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формализовать задачи на проектирование и разработку мобильного приложения,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мобильное приложение (архитектуру, функциональную схему, адаптированную модель жизненного цикла, интерфейс и базу данных),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и обосновать информационные, технические, программные средства для разработки мобильное приложения,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мобильное приложение,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произвести расчет вычислительной и ёмкостной сложности модуля,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произвести тестирование приложения,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рассчитать экономическую эффективность и стоимость проведения работ.</a:t>
            </a: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13F239-44B8-EB1F-CD92-F845F302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749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BDCD4-AC75-B762-FE1B-D115FC0D3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конкурентов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E689BAE-DA18-7016-E3FC-08617F3EF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8677"/>
              </p:ext>
            </p:extLst>
          </p:nvPr>
        </p:nvGraphicFramePr>
        <p:xfrm>
          <a:off x="1110405" y="1713799"/>
          <a:ext cx="10337884" cy="3901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8787">
                  <a:extLst>
                    <a:ext uri="{9D8B030D-6E8A-4147-A177-3AD203B41FA5}">
                      <a16:colId xmlns:a16="http://schemas.microsoft.com/office/drawing/2014/main" val="2122708880"/>
                    </a:ext>
                  </a:extLst>
                </a:gridCol>
                <a:gridCol w="1545336">
                  <a:extLst>
                    <a:ext uri="{9D8B030D-6E8A-4147-A177-3AD203B41FA5}">
                      <a16:colId xmlns:a16="http://schemas.microsoft.com/office/drawing/2014/main" val="3234480687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356378403"/>
                    </a:ext>
                  </a:extLst>
                </a:gridCol>
                <a:gridCol w="1453896">
                  <a:extLst>
                    <a:ext uri="{9D8B030D-6E8A-4147-A177-3AD203B41FA5}">
                      <a16:colId xmlns:a16="http://schemas.microsoft.com/office/drawing/2014/main" val="2796741594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15686588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152961123"/>
                    </a:ext>
                  </a:extLst>
                </a:gridCol>
                <a:gridCol w="1618489">
                  <a:extLst>
                    <a:ext uri="{9D8B030D-6E8A-4147-A177-3AD203B41FA5}">
                      <a16:colId xmlns:a16="http://schemas.microsoft.com/office/drawing/2014/main" val="2757264467"/>
                    </a:ext>
                  </a:extLst>
                </a:gridCol>
              </a:tblGrid>
              <a:tr h="907966">
                <a:tc>
                  <a:txBody>
                    <a:bodyPr/>
                    <a:lstStyle/>
                    <a:p>
                      <a:r>
                        <a:rPr lang="ru-RU" sz="1800" dirty="0"/>
                        <a:t>Сервис/</a:t>
                      </a:r>
                    </a:p>
                    <a:p>
                      <a:r>
                        <a:rPr lang="ru-RU" sz="1800" dirty="0"/>
                        <a:t>Критерий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Возможность отслеживать начатые и пройденные курсы в профиле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Возможность совместного прохождения курсов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Возможность отслеживать результаты участников курса при совместном прохождении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Широкий выбор бесплатных курсов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Возможность фильтрации курсов по параметрам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Возможность отслеживать прогресс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358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Coursera 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+</a:t>
                      </a:r>
                      <a:endParaRPr lang="ru-RU" sz="4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-</a:t>
                      </a:r>
                      <a:endParaRPr lang="ru-RU" sz="4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-</a:t>
                      </a:r>
                      <a:endParaRPr lang="ru-RU" sz="4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-</a:t>
                      </a:r>
                      <a:endParaRPr lang="ru-RU" sz="4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+</a:t>
                      </a:r>
                      <a:endParaRPr lang="ru-RU" sz="4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+</a:t>
                      </a:r>
                      <a:endParaRPr lang="ru-RU" sz="4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0166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</a:rPr>
                        <a:t>Stepik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+</a:t>
                      </a:r>
                      <a:endParaRPr lang="ru-RU" sz="4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-</a:t>
                      </a:r>
                      <a:endParaRPr lang="ru-RU" sz="4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-</a:t>
                      </a:r>
                      <a:endParaRPr lang="ru-RU" sz="4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+</a:t>
                      </a:r>
                      <a:endParaRPr lang="ru-RU" sz="4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+</a:t>
                      </a:r>
                      <a:endParaRPr lang="ru-RU" sz="4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+</a:t>
                      </a:r>
                      <a:endParaRPr lang="ru-RU" sz="4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480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</a:rPr>
                        <a:t>Metanit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-</a:t>
                      </a:r>
                      <a:r>
                        <a:rPr lang="en-US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endParaRPr lang="ru-RU" sz="4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-</a:t>
                      </a:r>
                      <a:endParaRPr lang="ru-RU" sz="4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-</a:t>
                      </a:r>
                      <a:endParaRPr lang="ru-RU" sz="4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+</a:t>
                      </a:r>
                      <a:endParaRPr lang="ru-RU" sz="4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-</a:t>
                      </a:r>
                      <a:endParaRPr lang="ru-RU" sz="4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-</a:t>
                      </a:r>
                      <a:endParaRPr lang="ru-RU" sz="4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143242"/>
                  </a:ext>
                </a:extLst>
              </a:tr>
            </a:tbl>
          </a:graphicData>
        </a:graphic>
      </p:graphicFrame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80CB2CA9-C76A-720E-B79F-2AD8F3BF0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C93BF686-36AE-A4D2-4AF7-1DDD23771484}"/>
              </a:ext>
            </a:extLst>
          </p:cNvPr>
          <p:cNvSpPr txBox="1">
            <a:spLocks/>
          </p:cNvSpPr>
          <p:nvPr/>
        </p:nvSpPr>
        <p:spPr>
          <a:xfrm>
            <a:off x="1110405" y="1321748"/>
            <a:ext cx="7685088" cy="3000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Таблица 1 – Анализ конкурентных приложений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Разработано автором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ru-RU" sz="14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755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6E9C3A-E3AB-4F67-6E54-9CABAE2C0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092" y="388755"/>
            <a:ext cx="9883254" cy="508244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 к приложению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54F734-FDD3-07F0-5DBF-D69EB61EA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896999"/>
            <a:ext cx="11219688" cy="5471074"/>
          </a:xfrm>
        </p:spPr>
        <p:txBody>
          <a:bodyPr>
            <a:noAutofit/>
          </a:bodyPr>
          <a:lstStyle/>
          <a:p>
            <a:pPr indent="450215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– регистрация и авторизация пользователей;</a:t>
            </a:r>
            <a:endParaRPr lang="ru-RU" sz="1800" dirty="0">
              <a:effectLst/>
              <a:latin typeface="Calibri" panose="020F050202020403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– формирование каталога курсов с разбивкой по категориям;</a:t>
            </a:r>
            <a:endParaRPr lang="ru-RU" sz="1800" dirty="0">
              <a:effectLst/>
              <a:latin typeface="Calibri" panose="020F050202020403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– создание и управление командами (учебными комнатами), в которых участники могут совместно проходить выбранный курс и отслеживать общий прогресс;</a:t>
            </a:r>
            <a:endParaRPr lang="ru-RU" sz="1800" dirty="0">
              <a:effectLst/>
              <a:latin typeface="Calibri" panose="020F050202020403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– наличие в курсах тестовых заданий, которые позволят закрепить материал;</a:t>
            </a:r>
            <a:endParaRPr lang="ru-RU" sz="1800" dirty="0">
              <a:effectLst/>
              <a:latin typeface="Calibri" panose="020F050202020403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– просмотр личного профиля с отображением начатых и пройденных курсов;</a:t>
            </a:r>
            <a:endParaRPr lang="ru-RU" sz="1800" dirty="0">
              <a:effectLst/>
              <a:latin typeface="Calibri" panose="020F050202020403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– функция просмотра результатов участников в рамках курса, что позволит оценить успеваемость каждого;</a:t>
            </a:r>
            <a:endParaRPr lang="ru-RU" sz="1800" dirty="0">
              <a:effectLst/>
              <a:latin typeface="Calibri" panose="020F050202020403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– возможность структурировать курсы (разбиение на главы).</a:t>
            </a:r>
            <a:endParaRPr lang="ru-RU" sz="1800" dirty="0">
              <a:effectLst/>
              <a:latin typeface="Calibri" panose="020F050202020403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ru-RU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13F239-44B8-EB1F-CD92-F845F302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975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013845-CC17-CF94-53D3-68183394B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289" y="208836"/>
            <a:ext cx="8013421" cy="798183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инструментов и методов реализации приложения</a:t>
            </a: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D91E24A5-8D0D-2730-2616-C1B5743BA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2228333" y="819723"/>
            <a:ext cx="3443356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Мобильное приложение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636" y="2501788"/>
            <a:ext cx="430491" cy="579967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2623" y="2465134"/>
            <a:ext cx="591600" cy="579967"/>
          </a:xfrm>
          <a:prstGeom prst="rect">
            <a:avLst/>
          </a:prstGeom>
        </p:spPr>
      </p:pic>
      <p:sp>
        <p:nvSpPr>
          <p:cNvPr id="24" name="Прямоугольник 23"/>
          <p:cNvSpPr/>
          <p:nvPr/>
        </p:nvSpPr>
        <p:spPr>
          <a:xfrm>
            <a:off x="6904486" y="819722"/>
            <a:ext cx="2911948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Серверная часть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265F56C-51D3-CEA0-B307-B8CBF4AB4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911149"/>
              </p:ext>
            </p:extLst>
          </p:nvPr>
        </p:nvGraphicFramePr>
        <p:xfrm>
          <a:off x="1171575" y="1487457"/>
          <a:ext cx="9772648" cy="48961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3162">
                  <a:extLst>
                    <a:ext uri="{9D8B030D-6E8A-4147-A177-3AD203B41FA5}">
                      <a16:colId xmlns:a16="http://schemas.microsoft.com/office/drawing/2014/main" val="2123175364"/>
                    </a:ext>
                  </a:extLst>
                </a:gridCol>
                <a:gridCol w="2443162">
                  <a:extLst>
                    <a:ext uri="{9D8B030D-6E8A-4147-A177-3AD203B41FA5}">
                      <a16:colId xmlns:a16="http://schemas.microsoft.com/office/drawing/2014/main" val="12556257"/>
                    </a:ext>
                  </a:extLst>
                </a:gridCol>
                <a:gridCol w="2443162">
                  <a:extLst>
                    <a:ext uri="{9D8B030D-6E8A-4147-A177-3AD203B41FA5}">
                      <a16:colId xmlns:a16="http://schemas.microsoft.com/office/drawing/2014/main" val="191431650"/>
                    </a:ext>
                  </a:extLst>
                </a:gridCol>
                <a:gridCol w="2443162">
                  <a:extLst>
                    <a:ext uri="{9D8B030D-6E8A-4147-A177-3AD203B41FA5}">
                      <a16:colId xmlns:a16="http://schemas.microsoft.com/office/drawing/2014/main" val="3740846906"/>
                    </a:ext>
                  </a:extLst>
                </a:gridCol>
              </a:tblGrid>
              <a:tr h="1617077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Kotlin – </a:t>
                      </a:r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язык программирования, работает на 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JVM,</a:t>
                      </a:r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упрощает разработку: удобный синтаксис и </a:t>
                      </a:r>
                      <a:r>
                        <a:rPr lang="ru-RU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корутины</a:t>
                      </a:r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Jetpack Compose</a:t>
                      </a:r>
                      <a:r>
                        <a:rPr lang="ru-RU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</a:t>
                      </a:r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фреймворк с быстрой декларативной разработкой.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 –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фреймворк для разработки серверной части с встроенной поддержкой 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DI.</a:t>
                      </a:r>
                      <a:endParaRPr lang="ru-RU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 –</a:t>
                      </a:r>
                    </a:p>
                    <a:p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Реляционная СУБД, эффективно работает с большими данными.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240346"/>
                  </a:ext>
                </a:extLst>
              </a:tr>
              <a:tr h="1724641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Retrofit –</a:t>
                      </a:r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r>
                        <a:rPr lang="ru-RU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Типобезопасный</a:t>
                      </a:r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 </a:t>
                      </a:r>
                      <a:endParaRPr lang="ru-RU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клиент для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эффективной разработки 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взаимодействия с сервером.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Room </a:t>
                      </a:r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</a:t>
                      </a:r>
                    </a:p>
                    <a:p>
                      <a:r>
                        <a:rPr lang="ru-RU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Типобезопасная</a:t>
                      </a:r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обертка над 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SQLite,</a:t>
                      </a:r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позволяет эффективно взаимодействовать</a:t>
                      </a:r>
                    </a:p>
                    <a:p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 БД.</a:t>
                      </a:r>
                      <a:endParaRPr lang="ru-RU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 JPA – </a:t>
                      </a:r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обертка над 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JPA, </a:t>
                      </a:r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которая предоставляет механизм для сохранения </a:t>
                      </a:r>
                    </a:p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 </a:t>
                      </a:r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объектов в </a:t>
                      </a:r>
                    </a:p>
                    <a:p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БД.</a:t>
                      </a:r>
                      <a:endParaRPr lang="ru-RU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 Security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фреймворк для обеспечения аутентификации и авторизации.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732835"/>
                  </a:ext>
                </a:extLst>
              </a:tr>
              <a:tr h="1310141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Dagger-hilt – </a:t>
                      </a:r>
                    </a:p>
                    <a:p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библиотека для</a:t>
                      </a:r>
                    </a:p>
                    <a:p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Реализации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паттерна 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«инъекция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зависимостей».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 studio –</a:t>
                      </a:r>
                    </a:p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 </a:t>
                      </a:r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для </a:t>
                      </a:r>
                      <a:r>
                        <a:rPr lang="ru-RU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</a:t>
                      </a:r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  <a:p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тки от </a:t>
                      </a:r>
                      <a:r>
                        <a:rPr lang="en-US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Jetbrains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</a:t>
                      </a:r>
                    </a:p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Google.</a:t>
                      </a:r>
                      <a:endParaRPr lang="ru-RU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ru-RU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578922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C9735B-2E42-4EE7-37B1-20DA345AC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582" y="2428481"/>
            <a:ext cx="604389" cy="65327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18BCCD7-8324-0613-78F4-D44D8D2F4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9426" y="2487273"/>
            <a:ext cx="604389" cy="59448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8DC252E-47CC-5A0B-C9AB-6AE4130C18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3151" y="4091729"/>
            <a:ext cx="685136" cy="67768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00DC277-E378-51D3-BF10-7C79B5D334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528" y="4024432"/>
            <a:ext cx="513375" cy="74769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7E2EE08-57CD-2FAB-3027-D5C1FCFA06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7137" y="4047108"/>
            <a:ext cx="781425" cy="74769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EB3B130-FE5F-9450-1C5E-4F3E4540E3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303" y="4058904"/>
            <a:ext cx="747695" cy="74769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809A9BD-A109-CC3C-9686-0E101E69849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7861" y="5664103"/>
            <a:ext cx="720426" cy="677689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58BE80B6-DB61-43A4-9631-719A4BB0B64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786" y="5600121"/>
            <a:ext cx="680185" cy="68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B0683-3A7C-B1BF-6190-2D397834A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288" y="264752"/>
            <a:ext cx="8013421" cy="508244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Функциональная модель приложения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D40923-BCD3-ADF5-6BCD-CD79B8ABA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2B4ED980-97D7-E37A-3DAD-90A45702590F}"/>
              </a:ext>
            </a:extLst>
          </p:cNvPr>
          <p:cNvSpPr txBox="1">
            <a:spLocks/>
          </p:cNvSpPr>
          <p:nvPr/>
        </p:nvSpPr>
        <p:spPr>
          <a:xfrm>
            <a:off x="7690757" y="1670613"/>
            <a:ext cx="4501243" cy="3415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CEFC6A38-15F3-3E3F-2CAB-89EA7BF477C2}"/>
              </a:ext>
            </a:extLst>
          </p:cNvPr>
          <p:cNvSpPr txBox="1">
            <a:spLocks/>
          </p:cNvSpPr>
          <p:nvPr/>
        </p:nvSpPr>
        <p:spPr>
          <a:xfrm>
            <a:off x="1801584" y="1915542"/>
            <a:ext cx="2658837" cy="3415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ru-RU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C93BF686-36AE-A4D2-4AF7-1DDD23771484}"/>
              </a:ext>
            </a:extLst>
          </p:cNvPr>
          <p:cNvSpPr txBox="1">
            <a:spLocks/>
          </p:cNvSpPr>
          <p:nvPr/>
        </p:nvSpPr>
        <p:spPr>
          <a:xfrm>
            <a:off x="2256290" y="5984076"/>
            <a:ext cx="7685088" cy="3000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Рисунок 1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Декомпозиция контекстной диаграммы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Разработано автором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ru-RU" sz="14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0C3D76-08BD-2D07-5D63-B41298FCE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559338" y="1059007"/>
            <a:ext cx="7032503" cy="48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997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FA2F3-54BA-9D8E-BE19-6C17EDD81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287" y="344038"/>
            <a:ext cx="8013421" cy="508244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приложения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5F21FD8-D685-3946-9B34-C64C2E6A9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169641-E04C-8DAE-C2E7-41B9E6046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1562" y="4682884"/>
            <a:ext cx="5862181" cy="60731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Рисунок 2 – Компонентная диаграмма клиентской части мобильного приложения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[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Разработано автором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]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D85156-ACA4-5072-36C2-FAC1E3DDEB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54" y="1046585"/>
            <a:ext cx="5377776" cy="329644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Текст 3">
            <a:extLst>
              <a:ext uri="{FF2B5EF4-FFF2-40B4-BE49-F238E27FC236}">
                <a16:creationId xmlns:a16="http://schemas.microsoft.com/office/drawing/2014/main" id="{6E169641-E04C-8DAE-C2E7-41B9E6046521}"/>
              </a:ext>
            </a:extLst>
          </p:cNvPr>
          <p:cNvSpPr txBox="1">
            <a:spLocks/>
          </p:cNvSpPr>
          <p:nvPr/>
        </p:nvSpPr>
        <p:spPr>
          <a:xfrm>
            <a:off x="6964470" y="4689085"/>
            <a:ext cx="4475968" cy="3797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Рисунок 3 – Компонентная диаграмма серверной части мобильного приложения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[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Разработано автором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]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79732F-0DB5-7F66-92FE-4758B79FA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542950" y="1163054"/>
            <a:ext cx="5499147" cy="306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41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FA2F3-54BA-9D8E-BE19-6C17EDD81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287" y="170302"/>
            <a:ext cx="8013421" cy="508244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базы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5F21FD8-D685-3946-9B34-C64C2E6A9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169641-E04C-8DAE-C2E7-41B9E6046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53456" y="6072185"/>
            <a:ext cx="7685088" cy="300019"/>
          </a:xfrm>
        </p:spPr>
        <p:txBody>
          <a:bodyPr>
            <a:normAutofit fontScale="85000" lnSpcReduction="10000"/>
          </a:bodyPr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Рисунок 4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– Схема базы данных серверной части мобильного приложения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[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Разработано автором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]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B71A20-04FC-88CA-0D87-29ED8EF29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21315" y="1044548"/>
            <a:ext cx="10690104" cy="466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851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FA2F3-54BA-9D8E-BE19-6C17EDD81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2010" y="546162"/>
            <a:ext cx="8013421" cy="508244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5F21FD8-D685-3946-9B34-C64C2E6A9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169641-E04C-8DAE-C2E7-41B9E6046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593517" y="5244743"/>
            <a:ext cx="5321231" cy="504760"/>
          </a:xfrm>
        </p:spPr>
        <p:txBody>
          <a:bodyPr>
            <a:normAutofit fontScale="85000" lnSpcReduction="20000"/>
          </a:bodyPr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Рисунок 5 – Экран со списком курсов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[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Разработано автором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]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DD97AAD2-DDE6-7359-F1E6-1AB698290903}"/>
              </a:ext>
            </a:extLst>
          </p:cNvPr>
          <p:cNvSpPr txBox="1">
            <a:spLocks/>
          </p:cNvSpPr>
          <p:nvPr/>
        </p:nvSpPr>
        <p:spPr>
          <a:xfrm>
            <a:off x="3720501" y="5298832"/>
            <a:ext cx="4077299" cy="534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Рисунок 6 – Структура проекта мобильного приложения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[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разработано автором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]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7F9FCB96-4351-70BE-B3A6-0DE6EF2F7A1C}"/>
              </a:ext>
            </a:extLst>
          </p:cNvPr>
          <p:cNvSpPr txBox="1">
            <a:spLocks/>
          </p:cNvSpPr>
          <p:nvPr/>
        </p:nvSpPr>
        <p:spPr>
          <a:xfrm>
            <a:off x="6557592" y="5175083"/>
            <a:ext cx="6513513" cy="300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Рисунок 7 –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UI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тесты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[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разработано автором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]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33ACACE-0CF0-8D7D-79BA-5B64D798B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200722" y="1054406"/>
            <a:ext cx="1942576" cy="410638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477094C-67F3-F196-1A91-BD7FDE0CC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81294" y="3181499"/>
            <a:ext cx="2803525" cy="197929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CCF1C03-042B-FB7A-7063-153E72BC5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5060" y="3265954"/>
            <a:ext cx="3838575" cy="18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97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FA2F3-54BA-9D8E-BE19-6C17EDD81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6826" y="163870"/>
            <a:ext cx="8618338" cy="508244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серверной части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5F21FD8-D685-3946-9B34-C64C2E6A9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169641-E04C-8DAE-C2E7-41B9E6046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44777" y="5551880"/>
            <a:ext cx="3976188" cy="583735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Рисунок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9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 – Структура серверной части 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[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Разработано автором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]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71FDA0-33C9-F233-84B1-D8605422A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285615" y="904572"/>
            <a:ext cx="3620770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016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0FE4C-0738-BD62-8C3C-635BDB39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7E2FCE-4B64-6A9A-9F75-700CF1428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272" y="333257"/>
            <a:ext cx="9796272" cy="508244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Жизненный цикл разработки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913406-0FA2-2DD3-545F-7B2DEDD6D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EA614B19-AB24-9DEF-AB85-F2A8C59E4A57}"/>
              </a:ext>
            </a:extLst>
          </p:cNvPr>
          <p:cNvSpPr txBox="1">
            <a:spLocks/>
          </p:cNvSpPr>
          <p:nvPr/>
        </p:nvSpPr>
        <p:spPr>
          <a:xfrm>
            <a:off x="3171805" y="5685420"/>
            <a:ext cx="5848385" cy="662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Рисунок 10 – Адаптированная модель жизненного цикла (адаптированная каскадная модель)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[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Разработано автором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]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750D7EA-186F-265A-4E27-7A1BADB1B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998" y="1108239"/>
            <a:ext cx="4782820" cy="431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511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000" y="0"/>
            <a:ext cx="962159" cy="147658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FA2F3-54BA-9D8E-BE19-6C17EDD81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919" y="0"/>
            <a:ext cx="8013421" cy="508244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Демонстрация функционала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5F21FD8-D685-3946-9B34-C64C2E6A9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F78AB5-F731-5817-2908-237BDAED5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049692" y="1092800"/>
            <a:ext cx="1881019" cy="390211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C51E629-F968-828C-346A-C7801BB45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281" y="1137437"/>
            <a:ext cx="1855520" cy="3913177"/>
          </a:xfrm>
          <a:prstGeom prst="rect">
            <a:avLst/>
          </a:prstGeom>
        </p:spPr>
      </p:pic>
      <p:sp>
        <p:nvSpPr>
          <p:cNvPr id="8" name="Текст 3">
            <a:extLst>
              <a:ext uri="{FF2B5EF4-FFF2-40B4-BE49-F238E27FC236}">
                <a16:creationId xmlns:a16="http://schemas.microsoft.com/office/drawing/2014/main" id="{F113846C-D4A6-A31D-69BA-E9B006670B05}"/>
              </a:ext>
            </a:extLst>
          </p:cNvPr>
          <p:cNvSpPr txBox="1">
            <a:spLocks/>
          </p:cNvSpPr>
          <p:nvPr/>
        </p:nvSpPr>
        <p:spPr>
          <a:xfrm>
            <a:off x="283182" y="5058405"/>
            <a:ext cx="4119718" cy="662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Рисунок 11 – Экран со списком сессий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[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Разработано автором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]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5552CF20-3FA9-B033-D37F-D51A40D15520}"/>
              </a:ext>
            </a:extLst>
          </p:cNvPr>
          <p:cNvSpPr txBox="1">
            <a:spLocks/>
          </p:cNvSpPr>
          <p:nvPr/>
        </p:nvSpPr>
        <p:spPr>
          <a:xfrm>
            <a:off x="3930343" y="5050614"/>
            <a:ext cx="4119718" cy="662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Рисунок 12 – Экран с деталями текущей сессии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[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Разработано автором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]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B2735A5-7183-F816-3004-2CA33F3BD4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563878" y="1092800"/>
            <a:ext cx="2328423" cy="3957814"/>
          </a:xfrm>
          <a:prstGeom prst="rect">
            <a:avLst/>
          </a:prstGeom>
        </p:spPr>
      </p:pic>
      <p:sp>
        <p:nvSpPr>
          <p:cNvPr id="12" name="Текст 3">
            <a:extLst>
              <a:ext uri="{FF2B5EF4-FFF2-40B4-BE49-F238E27FC236}">
                <a16:creationId xmlns:a16="http://schemas.microsoft.com/office/drawing/2014/main" id="{6C6CCB2B-41C0-A134-A1E6-739D33089642}"/>
              </a:ext>
            </a:extLst>
          </p:cNvPr>
          <p:cNvSpPr txBox="1">
            <a:spLocks/>
          </p:cNvSpPr>
          <p:nvPr/>
        </p:nvSpPr>
        <p:spPr>
          <a:xfrm>
            <a:off x="7668230" y="5033589"/>
            <a:ext cx="4119718" cy="662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Рисунок 13 – Экран с тестовым заданием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[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Разработано автором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]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583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A2199-430F-84DC-D007-A5FF75CDE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1BA2CA-1FA2-B76A-F4E2-A513D3E20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000" y="0"/>
            <a:ext cx="962159" cy="147658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2ED71D-A849-8D2A-5530-1F60CBA8B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919" y="0"/>
            <a:ext cx="8013421" cy="508244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Демонстрация функционала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DB91103-6983-E460-1786-26943E14C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81A05B46-A990-AE0F-8BBA-1868069E995B}"/>
              </a:ext>
            </a:extLst>
          </p:cNvPr>
          <p:cNvSpPr txBox="1">
            <a:spLocks/>
          </p:cNvSpPr>
          <p:nvPr/>
        </p:nvSpPr>
        <p:spPr>
          <a:xfrm>
            <a:off x="805324" y="4985253"/>
            <a:ext cx="4119718" cy="662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Рисунок 1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4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 – Экран профиля и экран активных сессий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[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Разработано автором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]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11BF4840-82B1-CFA5-67D2-44CEBE19526D}"/>
              </a:ext>
            </a:extLst>
          </p:cNvPr>
          <p:cNvSpPr txBox="1">
            <a:spLocks/>
          </p:cNvSpPr>
          <p:nvPr/>
        </p:nvSpPr>
        <p:spPr>
          <a:xfrm>
            <a:off x="7337137" y="5076861"/>
            <a:ext cx="4119718" cy="662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Рисунок 15 – Экран со списком курсов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[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Разработано автором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]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B52166-E50F-2899-CC76-C9685D3F0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29026" y="1072076"/>
            <a:ext cx="3647161" cy="381377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91F9E83-34FA-4E7A-FABC-1ED0CCCC9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696990" y="905006"/>
            <a:ext cx="1930210" cy="408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921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FA2F3-54BA-9D8E-BE19-6C17EDD81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Расчет полной себестоимости проекта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5F21FD8-D685-3946-9B34-C64C2E6A9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7F10BEA6-C1AF-8AD4-4090-5B673A13AB9C}"/>
              </a:ext>
            </a:extLst>
          </p:cNvPr>
          <p:cNvSpPr txBox="1">
            <a:spLocks/>
          </p:cNvSpPr>
          <p:nvPr/>
        </p:nvSpPr>
        <p:spPr>
          <a:xfrm>
            <a:off x="2389912" y="1698041"/>
            <a:ext cx="8783731" cy="3541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Таблица 2 – Себестоимость проекта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разработано автором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ru-RU" sz="14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ED34B04-DBA4-A35D-9E7F-31BD24680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908119"/>
              </p:ext>
            </p:extLst>
          </p:nvPr>
        </p:nvGraphicFramePr>
        <p:xfrm>
          <a:off x="2389912" y="2064090"/>
          <a:ext cx="7298969" cy="284611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17853">
                  <a:extLst>
                    <a:ext uri="{9D8B030D-6E8A-4147-A177-3AD203B41FA5}">
                      <a16:colId xmlns:a16="http://schemas.microsoft.com/office/drawing/2014/main" val="1771801563"/>
                    </a:ext>
                  </a:extLst>
                </a:gridCol>
                <a:gridCol w="3294847">
                  <a:extLst>
                    <a:ext uri="{9D8B030D-6E8A-4147-A177-3AD203B41FA5}">
                      <a16:colId xmlns:a16="http://schemas.microsoft.com/office/drawing/2014/main" val="2634706583"/>
                    </a:ext>
                  </a:extLst>
                </a:gridCol>
                <a:gridCol w="1892702">
                  <a:extLst>
                    <a:ext uri="{9D8B030D-6E8A-4147-A177-3AD203B41FA5}">
                      <a16:colId xmlns:a16="http://schemas.microsoft.com/office/drawing/2014/main" val="1827777573"/>
                    </a:ext>
                  </a:extLst>
                </a:gridCol>
                <a:gridCol w="1293567">
                  <a:extLst>
                    <a:ext uri="{9D8B030D-6E8A-4147-A177-3AD203B41FA5}">
                      <a16:colId xmlns:a16="http://schemas.microsoft.com/office/drawing/2014/main" val="3972266650"/>
                    </a:ext>
                  </a:extLst>
                </a:gridCol>
              </a:tblGrid>
              <a:tr h="7655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№ п/п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4605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Номенклатура статей расходов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Затраты (руб.)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905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Доля затрат, %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1922028"/>
                  </a:ext>
                </a:extLst>
              </a:tr>
              <a:tr h="2913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4605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Сырье и материалы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5625,800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905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2,55</a:t>
                      </a:r>
                      <a:r>
                        <a:rPr lang="en-US" sz="1200">
                          <a:effectLst/>
                        </a:rPr>
                        <a:t>7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55478850"/>
                  </a:ext>
                </a:extLst>
              </a:tr>
              <a:tr h="2913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4605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Основная заработная плата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72654,000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905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33,016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186970608"/>
                  </a:ext>
                </a:extLst>
              </a:tr>
              <a:tr h="2913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4605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Дополнительная заработная плата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18163,500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905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8,254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098927699"/>
                  </a:ext>
                </a:extLst>
              </a:tr>
              <a:tr h="2913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4605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Страховые взносы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27426,885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905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12,463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12593333"/>
                  </a:ext>
                </a:extLst>
              </a:tr>
              <a:tr h="33261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4605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Амортизация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9000,000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1905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4,090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5684662"/>
                  </a:ext>
                </a:extLst>
              </a:tr>
              <a:tr h="2913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6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4605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Прочие расходы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87184,800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905"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39,</a:t>
                      </a:r>
                      <a:r>
                        <a:rPr lang="en-US" sz="1200">
                          <a:effectLst/>
                        </a:rPr>
                        <a:t>620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616009335"/>
                  </a:ext>
                </a:extLst>
              </a:tr>
              <a:tr h="291320">
                <a:tc gridSpan="2"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Итого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220054,985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 dirty="0">
                          <a:effectLst/>
                        </a:rPr>
                        <a:t>100,0</a:t>
                      </a:r>
                      <a:r>
                        <a:rPr lang="en-US" sz="1200" dirty="0">
                          <a:effectLst/>
                        </a:rPr>
                        <a:t>0</a:t>
                      </a:r>
                      <a:r>
                        <a:rPr lang="ru-RU" sz="1200" dirty="0">
                          <a:effectLst/>
                        </a:rPr>
                        <a:t>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8017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362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19F75-271E-C01E-FA8E-4F560DCCE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D80E95-E8FA-58A7-E188-F3A8DAF94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вычислительной и емкостной сложности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C700890-EE2B-281E-20D4-1B1867DA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6845116D-A4B7-2612-6813-3BE442BE7CB5}"/>
              </a:ext>
            </a:extLst>
          </p:cNvPr>
          <p:cNvSpPr txBox="1">
            <a:spLocks/>
          </p:cNvSpPr>
          <p:nvPr/>
        </p:nvSpPr>
        <p:spPr>
          <a:xfrm>
            <a:off x="6330342" y="1388396"/>
            <a:ext cx="8783731" cy="3541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Таблица 4 – Емкостная сложность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разработано автором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ru-RU" sz="14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6D132A33-C04F-328E-1D87-E177B431C9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521189"/>
              </p:ext>
            </p:extLst>
          </p:nvPr>
        </p:nvGraphicFramePr>
        <p:xfrm>
          <a:off x="6330342" y="1673963"/>
          <a:ext cx="5413470" cy="413273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23099">
                  <a:extLst>
                    <a:ext uri="{9D8B030D-6E8A-4147-A177-3AD203B41FA5}">
                      <a16:colId xmlns:a16="http://schemas.microsoft.com/office/drawing/2014/main" val="3548904771"/>
                    </a:ext>
                  </a:extLst>
                </a:gridCol>
                <a:gridCol w="2187559">
                  <a:extLst>
                    <a:ext uri="{9D8B030D-6E8A-4147-A177-3AD203B41FA5}">
                      <a16:colId xmlns:a16="http://schemas.microsoft.com/office/drawing/2014/main" val="4128148301"/>
                    </a:ext>
                  </a:extLst>
                </a:gridCol>
                <a:gridCol w="1202812">
                  <a:extLst>
                    <a:ext uri="{9D8B030D-6E8A-4147-A177-3AD203B41FA5}">
                      <a16:colId xmlns:a16="http://schemas.microsoft.com/office/drawing/2014/main" val="3373872188"/>
                    </a:ext>
                  </a:extLst>
                </a:gridCol>
              </a:tblGrid>
              <a:tr h="4055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Операция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 dirty="0">
                          <a:effectLst/>
                        </a:rPr>
                        <a:t>Внешний доступ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Средняя сложность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3442356"/>
                  </a:ext>
                </a:extLst>
              </a:tr>
              <a:tr h="45581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 dirty="0">
                          <a:effectLst/>
                        </a:rPr>
                        <a:t>Авторизация пользователя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POST /auth/signin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0.0</a:t>
                      </a:r>
                      <a:r>
                        <a:rPr lang="ru-RU" sz="1200">
                          <a:effectLst/>
                        </a:rPr>
                        <a:t>7 Мб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64829359"/>
                  </a:ext>
                </a:extLst>
              </a:tr>
              <a:tr h="45581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Получение категорий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GET /category/list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0.10 Мб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94042208"/>
                  </a:ext>
                </a:extLst>
              </a:tr>
              <a:tr h="8706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Список карт обучения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GET /roadmap/list?statusId&amp;categoryId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1.20 Мб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4494742"/>
                  </a:ext>
                </a:extLst>
              </a:tr>
              <a:tr h="45581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Получение сессии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GET /session/{id}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0.95 Мб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97486814"/>
                  </a:ext>
                </a:extLst>
              </a:tr>
              <a:tr h="45581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Присоединение к сессии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POST /session/{id}/join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0.15 Мб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68417808"/>
                  </a:ext>
                </a:extLst>
              </a:tr>
              <a:tr h="57468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Выполнение задания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POST /session/{id}/markTask/{taskId}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>
                          <a:effectLst/>
                        </a:rPr>
                        <a:t>0.16 Мб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00618378"/>
                  </a:ext>
                </a:extLst>
              </a:tr>
              <a:tr h="45581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 dirty="0">
                          <a:effectLst/>
                        </a:rPr>
                        <a:t>Информация о пользователе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GET /user/info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200" dirty="0">
                          <a:effectLst/>
                        </a:rPr>
                        <a:t>0.65 Мб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02332016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5F363AD7-C553-4FBC-1C38-636BA6E80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306269"/>
              </p:ext>
            </p:extLst>
          </p:nvPr>
        </p:nvGraphicFramePr>
        <p:xfrm>
          <a:off x="279162" y="1565450"/>
          <a:ext cx="5334238" cy="402471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87416">
                  <a:extLst>
                    <a:ext uri="{9D8B030D-6E8A-4147-A177-3AD203B41FA5}">
                      <a16:colId xmlns:a16="http://schemas.microsoft.com/office/drawing/2014/main" val="2131356124"/>
                    </a:ext>
                  </a:extLst>
                </a:gridCol>
                <a:gridCol w="2026028">
                  <a:extLst>
                    <a:ext uri="{9D8B030D-6E8A-4147-A177-3AD203B41FA5}">
                      <a16:colId xmlns:a16="http://schemas.microsoft.com/office/drawing/2014/main" val="33197951"/>
                    </a:ext>
                  </a:extLst>
                </a:gridCol>
                <a:gridCol w="2120794">
                  <a:extLst>
                    <a:ext uri="{9D8B030D-6E8A-4147-A177-3AD203B41FA5}">
                      <a16:colId xmlns:a16="http://schemas.microsoft.com/office/drawing/2014/main" val="3683278635"/>
                    </a:ext>
                  </a:extLst>
                </a:gridCol>
              </a:tblGrid>
              <a:tr h="2046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>
                          <a:effectLst/>
                        </a:rPr>
                        <a:t>Операция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>
                          <a:effectLst/>
                        </a:rPr>
                        <a:t>Внешний доступ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>
                          <a:effectLst/>
                        </a:rPr>
                        <a:t>Сложность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extLst>
                  <a:ext uri="{0D108BD9-81ED-4DB2-BD59-A6C34878D82A}">
                    <a16:rowId xmlns:a16="http://schemas.microsoft.com/office/drawing/2014/main" val="3490314695"/>
                  </a:ext>
                </a:extLst>
              </a:tr>
              <a:tr h="5507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>
                          <a:effectLst/>
                        </a:rPr>
                        <a:t>Авторизация пользователя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POST /auth/signin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O</a:t>
                      </a:r>
                      <a:r>
                        <a:rPr lang="ru-RU" sz="1000" dirty="0">
                          <a:effectLst/>
                        </a:rPr>
                        <a:t>(</a:t>
                      </a:r>
                      <a:r>
                        <a:rPr lang="en-US" sz="1000" dirty="0">
                          <a:effectLst/>
                        </a:rPr>
                        <a:t>log n</a:t>
                      </a:r>
                      <a:r>
                        <a:rPr lang="ru-RU" sz="1000" dirty="0">
                          <a:effectLst/>
                        </a:rPr>
                        <a:t>) – единичный поиск пользователя по индексированному полю </a:t>
                      </a:r>
                      <a:r>
                        <a:rPr lang="en-US" sz="1000" dirty="0">
                          <a:effectLst/>
                        </a:rPr>
                        <a:t>username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extLst>
                  <a:ext uri="{0D108BD9-81ED-4DB2-BD59-A6C34878D82A}">
                    <a16:rowId xmlns:a16="http://schemas.microsoft.com/office/drawing/2014/main" val="4005627164"/>
                  </a:ext>
                </a:extLst>
              </a:tr>
              <a:tr h="41097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>
                          <a:effectLst/>
                        </a:rPr>
                        <a:t>Получение категорий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GET /category/list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O</a:t>
                      </a:r>
                      <a:r>
                        <a:rPr lang="ru-RU" sz="1000">
                          <a:effectLst/>
                        </a:rPr>
                        <a:t>(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r>
                        <a:rPr lang="ru-RU" sz="1000">
                          <a:effectLst/>
                        </a:rPr>
                        <a:t>) – так как таблица небольшая, индексы не используются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extLst>
                  <a:ext uri="{0D108BD9-81ED-4DB2-BD59-A6C34878D82A}">
                    <a16:rowId xmlns:a16="http://schemas.microsoft.com/office/drawing/2014/main" val="2683052681"/>
                  </a:ext>
                </a:extLst>
              </a:tr>
              <a:tr h="5507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>
                          <a:effectLst/>
                        </a:rPr>
                        <a:t>Список карт обучения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GET /roadmap/list?statusId&amp;categoryId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O</a:t>
                      </a:r>
                      <a:r>
                        <a:rPr lang="ru-RU" sz="1000">
                          <a:effectLst/>
                        </a:rPr>
                        <a:t>(</a:t>
                      </a:r>
                      <a:r>
                        <a:rPr lang="en-US" sz="1000">
                          <a:effectLst/>
                        </a:rPr>
                        <a:t>r</a:t>
                      </a:r>
                      <a:r>
                        <a:rPr lang="ru-RU" sz="1000">
                          <a:effectLst/>
                        </a:rPr>
                        <a:t>) – выборка </a:t>
                      </a:r>
                      <a:r>
                        <a:rPr lang="en-US" sz="1000">
                          <a:effectLst/>
                        </a:rPr>
                        <a:t>r</a:t>
                      </a:r>
                      <a:r>
                        <a:rPr lang="ru-RU" sz="1000">
                          <a:effectLst/>
                        </a:rPr>
                        <a:t> карт по составному индексу (</a:t>
                      </a:r>
                      <a:r>
                        <a:rPr lang="en-US" sz="1000">
                          <a:effectLst/>
                        </a:rPr>
                        <a:t>status</a:t>
                      </a:r>
                      <a:r>
                        <a:rPr lang="ru-RU" sz="1000">
                          <a:effectLst/>
                        </a:rPr>
                        <a:t>_</a:t>
                      </a:r>
                      <a:r>
                        <a:rPr lang="en-US" sz="1000">
                          <a:effectLst/>
                        </a:rPr>
                        <a:t>id</a:t>
                      </a:r>
                      <a:r>
                        <a:rPr lang="ru-RU" sz="1000">
                          <a:effectLst/>
                        </a:rPr>
                        <a:t>,</a:t>
                      </a:r>
                      <a:r>
                        <a:rPr lang="en-US" sz="1000">
                          <a:effectLst/>
                        </a:rPr>
                        <a:t>category</a:t>
                      </a:r>
                      <a:r>
                        <a:rPr lang="ru-RU" sz="1000">
                          <a:effectLst/>
                        </a:rPr>
                        <a:t>_</a:t>
                      </a:r>
                      <a:r>
                        <a:rPr lang="en-US" sz="1000">
                          <a:effectLst/>
                        </a:rPr>
                        <a:t>id</a:t>
                      </a:r>
                      <a:r>
                        <a:rPr lang="ru-RU" sz="1000">
                          <a:effectLst/>
                        </a:rPr>
                        <a:t>) без сортировки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extLst>
                  <a:ext uri="{0D108BD9-81ED-4DB2-BD59-A6C34878D82A}">
                    <a16:rowId xmlns:a16="http://schemas.microsoft.com/office/drawing/2014/main" val="3925874940"/>
                  </a:ext>
                </a:extLst>
              </a:tr>
              <a:tr h="41097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>
                          <a:effectLst/>
                        </a:rPr>
                        <a:t>Получение сессии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GET /session/{id}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O</a:t>
                      </a:r>
                      <a:r>
                        <a:rPr lang="ru-RU" sz="1000">
                          <a:effectLst/>
                        </a:rPr>
                        <a:t>(</a:t>
                      </a:r>
                      <a:r>
                        <a:rPr lang="en-US" sz="1000">
                          <a:effectLst/>
                        </a:rPr>
                        <a:t>log s</a:t>
                      </a:r>
                      <a:r>
                        <a:rPr lang="ru-RU" sz="1000">
                          <a:effectLst/>
                        </a:rPr>
                        <a:t> + </a:t>
                      </a:r>
                      <a:r>
                        <a:rPr lang="en-US" sz="1000">
                          <a:effectLst/>
                        </a:rPr>
                        <a:t>u</a:t>
                      </a:r>
                      <a:r>
                        <a:rPr lang="ru-RU" sz="1000">
                          <a:effectLst/>
                        </a:rPr>
                        <a:t> + 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ru-RU" sz="1000">
                          <a:effectLst/>
                        </a:rPr>
                        <a:t>) – поиск сессии по </a:t>
                      </a:r>
                      <a:r>
                        <a:rPr lang="en-US" sz="1000">
                          <a:effectLst/>
                        </a:rPr>
                        <a:t>PK</a:t>
                      </a:r>
                      <a:r>
                        <a:rPr lang="ru-RU" sz="1000">
                          <a:effectLst/>
                        </a:rPr>
                        <a:t> (</a:t>
                      </a:r>
                      <a:r>
                        <a:rPr lang="en-US" sz="1000">
                          <a:effectLst/>
                        </a:rPr>
                        <a:t>log s</a:t>
                      </a:r>
                      <a:r>
                        <a:rPr lang="ru-RU" sz="1000">
                          <a:effectLst/>
                        </a:rPr>
                        <a:t>) + ленивое чтение </a:t>
                      </a:r>
                      <a:r>
                        <a:rPr lang="en-US" sz="1000">
                          <a:effectLst/>
                        </a:rPr>
                        <a:t>u</a:t>
                      </a:r>
                      <a:r>
                        <a:rPr lang="ru-RU" sz="1000">
                          <a:effectLst/>
                        </a:rPr>
                        <a:t> участников и 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ru-RU" sz="1000">
                          <a:effectLst/>
                        </a:rPr>
                        <a:t> задач курса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extLst>
                  <a:ext uri="{0D108BD9-81ED-4DB2-BD59-A6C34878D82A}">
                    <a16:rowId xmlns:a16="http://schemas.microsoft.com/office/drawing/2014/main" val="4027462552"/>
                  </a:ext>
                </a:extLst>
              </a:tr>
              <a:tr h="5507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>
                          <a:effectLst/>
                        </a:rPr>
                        <a:t>Присоединение к сессии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POST /session/{id}/join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O</a:t>
                      </a:r>
                      <a:r>
                        <a:rPr lang="ru-RU" sz="1000">
                          <a:effectLst/>
                        </a:rPr>
                        <a:t>(</a:t>
                      </a:r>
                      <a:r>
                        <a:rPr lang="en-US" sz="1000">
                          <a:effectLst/>
                        </a:rPr>
                        <a:t>log s</a:t>
                      </a:r>
                      <a:r>
                        <a:rPr lang="ru-RU" sz="1000">
                          <a:effectLst/>
                        </a:rPr>
                        <a:t> + </a:t>
                      </a:r>
                      <a:r>
                        <a:rPr lang="en-US" sz="1000">
                          <a:effectLst/>
                        </a:rPr>
                        <a:t>log u</a:t>
                      </a:r>
                      <a:r>
                        <a:rPr lang="ru-RU" sz="1000">
                          <a:effectLst/>
                        </a:rPr>
                        <a:t>) – выборка сессии по </a:t>
                      </a:r>
                      <a:r>
                        <a:rPr lang="en-US" sz="1000">
                          <a:effectLst/>
                        </a:rPr>
                        <a:t>PK</a:t>
                      </a:r>
                      <a:r>
                        <a:rPr lang="ru-RU" sz="1000">
                          <a:effectLst/>
                        </a:rPr>
                        <a:t> + проверка существования участника в индексированном списке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extLst>
                  <a:ext uri="{0D108BD9-81ED-4DB2-BD59-A6C34878D82A}">
                    <a16:rowId xmlns:a16="http://schemas.microsoft.com/office/drawing/2014/main" val="2782039765"/>
                  </a:ext>
                </a:extLst>
              </a:tr>
              <a:tr h="5507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>
                          <a:effectLst/>
                        </a:rPr>
                        <a:t>Выполнение задания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POST /session/{id}/markTask/{taskId}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O</a:t>
                      </a:r>
                      <a:r>
                        <a:rPr lang="ru-RU" sz="1000">
                          <a:effectLst/>
                        </a:rPr>
                        <a:t>(</a:t>
                      </a:r>
                      <a:r>
                        <a:rPr lang="en-US" sz="1000">
                          <a:effectLst/>
                        </a:rPr>
                        <a:t>log s</a:t>
                      </a:r>
                      <a:r>
                        <a:rPr lang="ru-RU" sz="1000">
                          <a:effectLst/>
                        </a:rPr>
                        <a:t> + </a:t>
                      </a:r>
                      <a:r>
                        <a:rPr lang="en-US" sz="1000">
                          <a:effectLst/>
                        </a:rPr>
                        <a:t>log t</a:t>
                      </a:r>
                      <a:r>
                        <a:rPr lang="ru-RU" sz="1000">
                          <a:effectLst/>
                        </a:rPr>
                        <a:t>) – найти сессию, затем задачу в индексированном множестве задач пользователя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extLst>
                  <a:ext uri="{0D108BD9-81ED-4DB2-BD59-A6C34878D82A}">
                    <a16:rowId xmlns:a16="http://schemas.microsoft.com/office/drawing/2014/main" val="104268223"/>
                  </a:ext>
                </a:extLst>
              </a:tr>
              <a:tr h="55070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>
                          <a:effectLst/>
                        </a:rPr>
                        <a:t>Информация о пользователе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GET /user/info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ru-RU" sz="1000" dirty="0">
                          <a:effectLst/>
                        </a:rPr>
                        <a:t>O(</a:t>
                      </a:r>
                      <a:r>
                        <a:rPr lang="ru-RU" sz="1000" dirty="0" err="1">
                          <a:effectLst/>
                        </a:rPr>
                        <a:t>log</a:t>
                      </a:r>
                      <a:r>
                        <a:rPr lang="ru-RU" sz="1000" dirty="0">
                          <a:effectLst/>
                        </a:rPr>
                        <a:t> u + a) – выборка пользователя по PK + линейная выборка a активных/прошедших сессий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68" marR="54368" marT="0" marB="0" anchor="ctr"/>
                </a:tc>
                <a:extLst>
                  <a:ext uri="{0D108BD9-81ED-4DB2-BD59-A6C34878D82A}">
                    <a16:rowId xmlns:a16="http://schemas.microsoft.com/office/drawing/2014/main" val="3019578419"/>
                  </a:ext>
                </a:extLst>
              </a:tr>
            </a:tbl>
          </a:graphicData>
        </a:graphic>
      </p:graphicFrame>
      <p:sp>
        <p:nvSpPr>
          <p:cNvPr id="10" name="Текст 3">
            <a:extLst>
              <a:ext uri="{FF2B5EF4-FFF2-40B4-BE49-F238E27FC236}">
                <a16:creationId xmlns:a16="http://schemas.microsoft.com/office/drawing/2014/main" id="{32F6D06F-3D03-FF0B-71F7-43C6EA7B66CC}"/>
              </a:ext>
            </a:extLst>
          </p:cNvPr>
          <p:cNvSpPr txBox="1">
            <a:spLocks/>
          </p:cNvSpPr>
          <p:nvPr/>
        </p:nvSpPr>
        <p:spPr>
          <a:xfrm>
            <a:off x="177146" y="1316206"/>
            <a:ext cx="8783731" cy="3541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Таблица 3 – Вычислительная сложность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разработано автором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ru-RU" sz="14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108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FA2F3-54BA-9D8E-BE19-6C17EDD81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272" y="333257"/>
            <a:ext cx="9796272" cy="508244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выпускной квалификационной работы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5F21FD8-D685-3946-9B34-C64C2E6A9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757240" y="1125315"/>
            <a:ext cx="10869168" cy="4929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 разработать мобильное приложение для совместного изучения языков программирования и технологий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Поставленная цель успешно выполнена.</a:t>
            </a:r>
          </a:p>
          <a:p>
            <a:pPr>
              <a:defRPr/>
            </a:pPr>
            <a:endParaRPr lang="ru-RU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</a:t>
            </a: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 том, что использование мобильного приложения повышает вовлеченность </a:t>
            </a: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была подтверждена.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ru-RU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Итоги: -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анализ предметной области, в том числе конкурентных решений,</a:t>
            </a:r>
          </a:p>
          <a:p>
            <a:pPr marL="285750" marR="0" lvl="0" indent="-285750" algn="l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Определены и формализованы информационные процессы предметной области,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формализованы задачи на проектирование и разработку мобильного приложения,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спроектировано мобильное приложение (архитектуру, функциональную схему, адаптированную модель жизненного цикла, интерфейс и базу данных),</a:t>
            </a:r>
          </a:p>
          <a:p>
            <a:pPr marL="285750" indent="-28575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определены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обосновать информационные, технические, программные средства для разработки мобильного приложения,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мобильное приложение,</a:t>
            </a:r>
          </a:p>
          <a:p>
            <a:pPr marL="285750" indent="-28575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произведен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расчет вычислительной и ёмкостной сложности модуля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Произведено тестирование мобильного приложения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рассчитана экономическая эффективность и стоимость проведения работ.</a:t>
            </a: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defRPr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51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6571A4C-2A3C-C92F-F306-DF627525F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48E25-7533-41BE-A0AC-CAC84103B814}" type="slidenum">
              <a:rPr lang="ru-RU" smtClean="0"/>
              <a:t>17</a:t>
            </a:fld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A9FEADD-6481-8DA3-5C73-6ABBEDE8053A}"/>
              </a:ext>
            </a:extLst>
          </p:cNvPr>
          <p:cNvSpPr txBox="1">
            <a:spLocks/>
          </p:cNvSpPr>
          <p:nvPr/>
        </p:nvSpPr>
        <p:spPr>
          <a:xfrm>
            <a:off x="1415374" y="2499899"/>
            <a:ext cx="9361251" cy="10002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7089313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5370</TotalTime>
  <Words>1222</Words>
  <Application>Microsoft Office PowerPoint</Application>
  <PresentationFormat>Широкоэкранный</PresentationFormat>
  <Paragraphs>237</Paragraphs>
  <Slides>17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Цель, актуальность, гипотеза и задачи</vt:lpstr>
      <vt:lpstr>Анализ конкурентов</vt:lpstr>
      <vt:lpstr>Функциональные требования к приложению</vt:lpstr>
      <vt:lpstr>Выбор инструментов и методов реализации приложения</vt:lpstr>
      <vt:lpstr>Функциональная модель приложения</vt:lpstr>
      <vt:lpstr>Архитектура приложения</vt:lpstr>
      <vt:lpstr>Схема базы данных</vt:lpstr>
      <vt:lpstr>Разработка мобильного приложения - UI</vt:lpstr>
      <vt:lpstr>Разработка серверной части</vt:lpstr>
      <vt:lpstr>Жизненный цикл разработки</vt:lpstr>
      <vt:lpstr>Демонстрация функционала</vt:lpstr>
      <vt:lpstr>Демонстрация функционала</vt:lpstr>
      <vt:lpstr>Расчет полной себестоимости проекта</vt:lpstr>
      <vt:lpstr>Расчет вычислительной и емкостной сложности</vt:lpstr>
      <vt:lpstr>Результаты выпускной квалификационной работы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Skyquake Ermais</dc:creator>
  <cp:lastModifiedBy>AJNES SEMAG</cp:lastModifiedBy>
  <cp:revision>245</cp:revision>
  <dcterms:created xsi:type="dcterms:W3CDTF">2024-05-27T16:24:46Z</dcterms:created>
  <dcterms:modified xsi:type="dcterms:W3CDTF">2025-06-08T09:12:52Z</dcterms:modified>
</cp:coreProperties>
</file>